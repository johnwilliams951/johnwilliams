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570"/>
  </p:normalViewPr>
  <p:slideViewPr>
    <p:cSldViewPr snapToGrid="0" snapToObjects="1">
      <p:cViewPr varScale="1">
        <p:scale>
          <a:sx n="144" d="100"/>
          <a:sy n="144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3A5C"/>
                </a:solidFill>
                <a:latin typeface="Arial"/>
              </a:rPr>
              <a:t>Number of Employees at Each Salary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2E7CB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E4-B148-A330-AA303AA30AA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7E4-B148-A330-AA303AA30AA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7E4-B148-A330-AA303AA30AA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7E4-B148-A330-AA303AA30AA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7E4-B148-A330-AA303AA30AA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7E4-B148-A330-AA303AA30AA2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87E4-B148-A330-AA303AA30AA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87E4-B148-A330-AA303AA30AA2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87E4-B148-A330-AA303AA30AA2}"/>
              </c:ext>
            </c:extLst>
          </c:dPt>
          <c:dPt>
            <c:idx val="9"/>
            <c:invertIfNegative val="0"/>
            <c:bubble3D val="0"/>
            <c:spPr>
              <a:solidFill>
                <a:srgbClr val="E05C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87E4-B148-A330-AA303AA30AA2}"/>
              </c:ext>
            </c:extLst>
          </c:dPt>
          <c:dPt>
            <c:idx val="10"/>
            <c:invertIfNegative val="0"/>
            <c:bubble3D val="0"/>
            <c:spPr>
              <a:solidFill>
                <a:srgbClr val="E05C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87E4-B148-A330-AA303AA30AA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87E4-B148-A330-AA303AA30AA2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87E4-B148-A330-AA303AA30AA2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87E4-B148-A330-AA303AA30AA2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87E4-B148-A330-AA303AA30AA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87E4-B148-A330-AA303AA30AA2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87E4-B148-A330-AA303AA30AA2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87E4-B148-A330-AA303AA30AA2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87E4-B148-A330-AA303AA30AA2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87E4-B148-A330-AA303AA30AA2}"/>
              </c:ext>
            </c:extLst>
          </c:dPt>
          <c:cat>
            <c:strRef>
              <c:f>Sheet1!$A$2:$A$21</c:f>
              <c:strCache>
                <c:ptCount val="20"/>
                <c:pt idx="0">
                  <c:v>$10K</c:v>
                </c:pt>
                <c:pt idx="1">
                  <c:v>$20K</c:v>
                </c:pt>
                <c:pt idx="2">
                  <c:v>$30K</c:v>
                </c:pt>
                <c:pt idx="3">
                  <c:v>$40K</c:v>
                </c:pt>
                <c:pt idx="4">
                  <c:v>$50K</c:v>
                </c:pt>
                <c:pt idx="5">
                  <c:v>$60K</c:v>
                </c:pt>
                <c:pt idx="6">
                  <c:v>$70K</c:v>
                </c:pt>
                <c:pt idx="7">
                  <c:v>$80K</c:v>
                </c:pt>
                <c:pt idx="8">
                  <c:v>$90K</c:v>
                </c:pt>
                <c:pt idx="9">
                  <c:v>$100K</c:v>
                </c:pt>
                <c:pt idx="10">
                  <c:v>$110K</c:v>
                </c:pt>
                <c:pt idx="11">
                  <c:v>$120K</c:v>
                </c:pt>
                <c:pt idx="12">
                  <c:v>$130K</c:v>
                </c:pt>
                <c:pt idx="13">
                  <c:v>$140K</c:v>
                </c:pt>
                <c:pt idx="14">
                  <c:v>$150K</c:v>
                </c:pt>
                <c:pt idx="15">
                  <c:v>$160K</c:v>
                </c:pt>
                <c:pt idx="16">
                  <c:v>$170K</c:v>
                </c:pt>
                <c:pt idx="17">
                  <c:v>$180K</c:v>
                </c:pt>
                <c:pt idx="18">
                  <c:v>$190K</c:v>
                </c:pt>
                <c:pt idx="19">
                  <c:v>$200K+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180</c:v>
                </c:pt>
                <c:pt idx="1">
                  <c:v>290</c:v>
                </c:pt>
                <c:pt idx="2">
                  <c:v>430</c:v>
                </c:pt>
                <c:pt idx="3">
                  <c:v>620</c:v>
                </c:pt>
                <c:pt idx="4">
                  <c:v>900</c:v>
                </c:pt>
                <c:pt idx="5">
                  <c:v>1850</c:v>
                </c:pt>
                <c:pt idx="6">
                  <c:v>3100</c:v>
                </c:pt>
                <c:pt idx="7">
                  <c:v>4200</c:v>
                </c:pt>
                <c:pt idx="8">
                  <c:v>4800</c:v>
                </c:pt>
                <c:pt idx="9">
                  <c:v>5100</c:v>
                </c:pt>
                <c:pt idx="10">
                  <c:v>4600</c:v>
                </c:pt>
                <c:pt idx="11">
                  <c:v>3900</c:v>
                </c:pt>
                <c:pt idx="12">
                  <c:v>2800</c:v>
                </c:pt>
                <c:pt idx="13">
                  <c:v>1900</c:v>
                </c:pt>
                <c:pt idx="14">
                  <c:v>1200</c:v>
                </c:pt>
                <c:pt idx="15">
                  <c:v>700</c:v>
                </c:pt>
                <c:pt idx="16">
                  <c:v>380</c:v>
                </c:pt>
                <c:pt idx="17">
                  <c:v>180</c:v>
                </c:pt>
                <c:pt idx="18">
                  <c:v>90</c:v>
                </c:pt>
                <c:pt idx="19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87E4-B148-A330-AA303AA30A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3A5C"/>
                </a:solidFill>
                <a:latin typeface="Arial"/>
              </a:rPr>
              <a:t>Average Annual Salary by Agency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2E7CB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CA-3943-9D57-29DEB4B2B08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2CA-3943-9D57-29DEB4B2B08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2CA-3943-9D57-29DEB4B2B08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2CA-3943-9D57-29DEB4B2B08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2CA-3943-9D57-29DEB4B2B08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2CA-3943-9D57-29DEB4B2B081}"/>
              </c:ext>
            </c:extLst>
          </c:dPt>
          <c:dPt>
            <c:idx val="6"/>
            <c:invertIfNegative val="0"/>
            <c:bubble3D val="0"/>
            <c:spPr>
              <a:solidFill>
                <a:srgbClr val="E05C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2CA-3943-9D57-29DEB4B2B081}"/>
              </c:ext>
            </c:extLst>
          </c:dPt>
          <c:dPt>
            <c:idx val="7"/>
            <c:invertIfNegative val="0"/>
            <c:bubble3D val="0"/>
            <c:spPr>
              <a:solidFill>
                <a:srgbClr val="E05C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2CA-3943-9D57-29DEB4B2B081}"/>
              </c:ext>
            </c:extLst>
          </c:dPt>
          <c:dPt>
            <c:idx val="8"/>
            <c:invertIfNegative val="0"/>
            <c:bubble3D val="0"/>
            <c:spPr>
              <a:solidFill>
                <a:srgbClr val="E05C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2CA-3943-9D57-29DEB4B2B08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3A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Corrections</c:v>
                </c:pt>
                <c:pt idx="1">
                  <c:v>Transportation</c:v>
                </c:pt>
                <c:pt idx="2">
                  <c:v>Univ. of DC</c:v>
                </c:pt>
                <c:pt idx="3">
                  <c:v>Human Svcs</c:v>
                </c:pt>
                <c:pt idx="4">
                  <c:v>Fire &amp; EMS</c:v>
                </c:pt>
                <c:pt idx="5">
                  <c:v>DC Public Schools</c:v>
                </c:pt>
                <c:pt idx="6">
                  <c:v>Behavioral Health</c:v>
                </c:pt>
                <c:pt idx="7">
                  <c:v>Metro Police</c:v>
                </c:pt>
                <c:pt idx="8">
                  <c:v>Office of CFO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77633</c:v>
                </c:pt>
                <c:pt idx="1">
                  <c:v>85926</c:v>
                </c:pt>
                <c:pt idx="2">
                  <c:v>90375</c:v>
                </c:pt>
                <c:pt idx="3">
                  <c:v>93915</c:v>
                </c:pt>
                <c:pt idx="4">
                  <c:v>96749</c:v>
                </c:pt>
                <c:pt idx="5">
                  <c:v>100672</c:v>
                </c:pt>
                <c:pt idx="6">
                  <c:v>108843</c:v>
                </c:pt>
                <c:pt idx="7">
                  <c:v>109608</c:v>
                </c:pt>
                <c:pt idx="8">
                  <c:v>122268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2CA-3943-9D57-29DEB4B2B0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0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3A5C"/>
                </a:solidFill>
                <a:latin typeface="Arial"/>
              </a:rPr>
              <a:t>DC Government New Hires Per Year (2000–2024)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Hires</c:v>
                </c:pt>
              </c:strCache>
            </c:strRef>
          </c:tx>
          <c:spPr>
            <a:ln w="38100" cap="flat">
              <a:solidFill>
                <a:srgbClr val="2E7CB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CBF"/>
              </a:solidFill>
              <a:ln w="9525" cap="flat">
                <a:solidFill>
                  <a:srgbClr val="2E7CBF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1820</c:v>
                </c:pt>
                <c:pt idx="1">
                  <c:v>1750</c:v>
                </c:pt>
                <c:pt idx="2">
                  <c:v>1680</c:v>
                </c:pt>
                <c:pt idx="3">
                  <c:v>1710</c:v>
                </c:pt>
                <c:pt idx="4">
                  <c:v>1950</c:v>
                </c:pt>
                <c:pt idx="5">
                  <c:v>2080</c:v>
                </c:pt>
                <c:pt idx="6">
                  <c:v>2150</c:v>
                </c:pt>
                <c:pt idx="7">
                  <c:v>2200</c:v>
                </c:pt>
                <c:pt idx="8">
                  <c:v>2050</c:v>
                </c:pt>
                <c:pt idx="9">
                  <c:v>1780</c:v>
                </c:pt>
                <c:pt idx="10">
                  <c:v>1500</c:v>
                </c:pt>
                <c:pt idx="11">
                  <c:v>1320</c:v>
                </c:pt>
                <c:pt idx="12">
                  <c:v>1280</c:v>
                </c:pt>
                <c:pt idx="13">
                  <c:v>1350</c:v>
                </c:pt>
                <c:pt idx="14">
                  <c:v>1520</c:v>
                </c:pt>
                <c:pt idx="15">
                  <c:v>1750</c:v>
                </c:pt>
                <c:pt idx="16">
                  <c:v>1980</c:v>
                </c:pt>
                <c:pt idx="17">
                  <c:v>2100</c:v>
                </c:pt>
                <c:pt idx="18">
                  <c:v>2250</c:v>
                </c:pt>
                <c:pt idx="19">
                  <c:v>2400</c:v>
                </c:pt>
                <c:pt idx="20">
                  <c:v>2900</c:v>
                </c:pt>
                <c:pt idx="21">
                  <c:v>3200</c:v>
                </c:pt>
                <c:pt idx="22">
                  <c:v>2800</c:v>
                </c:pt>
                <c:pt idx="23">
                  <c:v>2600</c:v>
                </c:pt>
                <c:pt idx="24">
                  <c:v>2100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2F2-514C-B9D4-8149384552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3A5C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3A5C"/>
                </a:solidFill>
                <a:latin typeface="Arial"/>
              </a:rPr>
              <a:t>% of Employees at Each Grade Level by Agency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Level (GS 1–7)</c:v>
                </c:pt>
              </c:strCache>
            </c:strRef>
          </c:tx>
          <c:spPr>
            <a:solidFill>
              <a:srgbClr val="A8D8E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Corrections</c:v>
                </c:pt>
                <c:pt idx="1">
                  <c:v>Transportation</c:v>
                </c:pt>
                <c:pt idx="2">
                  <c:v>DC Public Schools</c:v>
                </c:pt>
                <c:pt idx="3">
                  <c:v>Human Svcs</c:v>
                </c:pt>
                <c:pt idx="4">
                  <c:v>Fire &amp; EMS</c:v>
                </c:pt>
                <c:pt idx="5">
                  <c:v>Behavioral Health</c:v>
                </c:pt>
                <c:pt idx="6">
                  <c:v>Metro Police</c:v>
                </c:pt>
                <c:pt idx="7">
                  <c:v>Office of CFO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</c:v>
                </c:pt>
                <c:pt idx="1">
                  <c:v>22</c:v>
                </c:pt>
                <c:pt idx="2">
                  <c:v>18</c:v>
                </c:pt>
                <c:pt idx="3">
                  <c:v>25</c:v>
                </c:pt>
                <c:pt idx="4">
                  <c:v>30</c:v>
                </c:pt>
                <c:pt idx="5">
                  <c:v>20</c:v>
                </c:pt>
                <c:pt idx="6">
                  <c:v>28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40-D748-98B9-29342F1A02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 Level (GS 8–11)</c:v>
                </c:pt>
              </c:strCache>
            </c:strRef>
          </c:tx>
          <c:spPr>
            <a:solidFill>
              <a:srgbClr val="4DA3E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Corrections</c:v>
                </c:pt>
                <c:pt idx="1">
                  <c:v>Transportation</c:v>
                </c:pt>
                <c:pt idx="2">
                  <c:v>DC Public Schools</c:v>
                </c:pt>
                <c:pt idx="3">
                  <c:v>Human Svcs</c:v>
                </c:pt>
                <c:pt idx="4">
                  <c:v>Fire &amp; EMS</c:v>
                </c:pt>
                <c:pt idx="5">
                  <c:v>Behavioral Health</c:v>
                </c:pt>
                <c:pt idx="6">
                  <c:v>Metro Police</c:v>
                </c:pt>
                <c:pt idx="7">
                  <c:v>Office of CFO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30</c:v>
                </c:pt>
                <c:pt idx="1">
                  <c:v>32</c:v>
                </c:pt>
                <c:pt idx="2">
                  <c:v>35</c:v>
                </c:pt>
                <c:pt idx="3">
                  <c:v>35</c:v>
                </c:pt>
                <c:pt idx="4">
                  <c:v>45</c:v>
                </c:pt>
                <c:pt idx="5">
                  <c:v>32</c:v>
                </c:pt>
                <c:pt idx="6">
                  <c:v>42</c:v>
                </c:pt>
                <c:pt idx="7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40-D748-98B9-29342F1A02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Senior (GS 12–14)</c:v>
                </c:pt>
              </c:strCache>
            </c:strRef>
          </c:tx>
          <c:spPr>
            <a:solidFill>
              <a:srgbClr val="2E7CBF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Corrections</c:v>
                </c:pt>
                <c:pt idx="1">
                  <c:v>Transportation</c:v>
                </c:pt>
                <c:pt idx="2">
                  <c:v>DC Public Schools</c:v>
                </c:pt>
                <c:pt idx="3">
                  <c:v>Human Svcs</c:v>
                </c:pt>
                <c:pt idx="4">
                  <c:v>Fire &amp; EMS</c:v>
                </c:pt>
                <c:pt idx="5">
                  <c:v>Behavioral Health</c:v>
                </c:pt>
                <c:pt idx="6">
                  <c:v>Metro Police</c:v>
                </c:pt>
                <c:pt idx="7">
                  <c:v>Office of CFO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22</c:v>
                </c:pt>
                <c:pt idx="1">
                  <c:v>30</c:v>
                </c:pt>
                <c:pt idx="2">
                  <c:v>38</c:v>
                </c:pt>
                <c:pt idx="3">
                  <c:v>30</c:v>
                </c:pt>
                <c:pt idx="4">
                  <c:v>20</c:v>
                </c:pt>
                <c:pt idx="5">
                  <c:v>35</c:v>
                </c:pt>
                <c:pt idx="6">
                  <c:v>25</c:v>
                </c:pt>
                <c:pt idx="7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40-D748-98B9-29342F1A02C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Executive (GS 15+)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Corrections</c:v>
                </c:pt>
                <c:pt idx="1">
                  <c:v>Transportation</c:v>
                </c:pt>
                <c:pt idx="2">
                  <c:v>DC Public Schools</c:v>
                </c:pt>
                <c:pt idx="3">
                  <c:v>Human Svcs</c:v>
                </c:pt>
                <c:pt idx="4">
                  <c:v>Fire &amp; EMS</c:v>
                </c:pt>
                <c:pt idx="5">
                  <c:v>Behavioral Health</c:v>
                </c:pt>
                <c:pt idx="6">
                  <c:v>Metro Police</c:v>
                </c:pt>
                <c:pt idx="7">
                  <c:v>Office of CFO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10</c:v>
                </c:pt>
                <c:pt idx="1">
                  <c:v>16</c:v>
                </c:pt>
                <c:pt idx="2">
                  <c:v>9</c:v>
                </c:pt>
                <c:pt idx="3">
                  <c:v>10</c:v>
                </c:pt>
                <c:pt idx="4">
                  <c:v>5</c:v>
                </c:pt>
                <c:pt idx="5">
                  <c:v>13</c:v>
                </c:pt>
                <c:pt idx="6">
                  <c:v>5</c:v>
                </c:pt>
                <c:pt idx="7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40-D748-98B9-29342F1A0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3A5C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3A5C"/>
                </a:solidFill>
                <a:latin typeface="Arial"/>
              </a:rPr>
              <a:t>Median Salary Today — By Decade Hired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Salary Today</c:v>
                </c:pt>
              </c:strCache>
            </c:strRef>
          </c:tx>
          <c:spPr>
            <a:solidFill>
              <a:srgbClr val="E05C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05C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1F4-0A4F-AC40-B1831E86DF5A}"/>
              </c:ext>
            </c:extLst>
          </c:dPt>
          <c:dPt>
            <c:idx val="1"/>
            <c:invertIfNegative val="0"/>
            <c:bubble3D val="0"/>
            <c:spPr>
              <a:solidFill>
                <a:srgbClr val="E05C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F4-0A4F-AC40-B1831E86DF5A}"/>
              </c:ext>
            </c:extLst>
          </c:dPt>
          <c:dPt>
            <c:idx val="2"/>
            <c:invertIfNegative val="0"/>
            <c:bubble3D val="0"/>
            <c:spPr>
              <a:solidFill>
                <a:srgbClr val="2E7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1F4-0A4F-AC40-B1831E86DF5A}"/>
              </c:ext>
            </c:extLst>
          </c:dPt>
          <c:dPt>
            <c:idx val="3"/>
            <c:invertIfNegative val="0"/>
            <c:bubble3D val="0"/>
            <c:spPr>
              <a:solidFill>
                <a:srgbClr val="2E7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1F4-0A4F-AC40-B1831E86DF5A}"/>
              </c:ext>
            </c:extLst>
          </c:dPt>
          <c:dPt>
            <c:idx val="4"/>
            <c:invertIfNegative val="0"/>
            <c:bubble3D val="0"/>
            <c:spPr>
              <a:solidFill>
                <a:srgbClr val="2E7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1F4-0A4F-AC40-B1831E86DF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3A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1980s</c:v>
                </c:pt>
                <c:pt idx="1">
                  <c:v>1990s</c:v>
                </c:pt>
                <c:pt idx="2">
                  <c:v>2000s</c:v>
                </c:pt>
                <c:pt idx="3">
                  <c:v>2010s</c:v>
                </c:pt>
                <c:pt idx="4">
                  <c:v>2020s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118000</c:v>
                </c:pt>
                <c:pt idx="1">
                  <c:v>112000</c:v>
                </c:pt>
                <c:pt idx="2">
                  <c:v>107000</c:v>
                </c:pt>
                <c:pt idx="3">
                  <c:v>99000</c:v>
                </c:pt>
                <c:pt idx="4">
                  <c:v>94000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1F4-0A4F-AC40-B1831E86DF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15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COMPRATE, GRADE → numeric; HIREDATE_STRING → datetime object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4,971 hourly records (&lt; $500) separated from 35,627 annual salaries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 null GRADE values retained for non-grade analyses only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40,611 OBJECTID values confirmed unique — no removals needed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HIRE_YEAR extracted; YEARS_OF_SERVICE computed; grade tiers created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Horizontal Stacked Bar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62F4A"/>
          </a:solidFill>
          <a:ln w="12700">
            <a:solidFill>
              <a:srgbClr val="16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230368" y="0"/>
            <a:ext cx="146304" cy="5143500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Paycheck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DC Government Salaries Reveal About Public Service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4389120" cy="0"/>
          </a:xfrm>
          <a:prstGeom prst="line">
            <a:avLst/>
          </a:prstGeom>
          <a:noFill/>
          <a:ln w="1905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C8E8"/>
                </a:solidFill>
              </a:rPr>
              <a:t>John Williams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C8E8"/>
                </a:solidFill>
              </a:rPr>
              <a:t>MATH 014 — Introduction to Data Science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C8E8"/>
                </a:solidFill>
              </a:rPr>
              <a:t>Spring 2026  |  Howard University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C8E8"/>
                </a:solidFill>
              </a:rPr>
              <a:t>Dataset: DC Public Employee Salary — DC Open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0" y="731520"/>
            <a:ext cx="2560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1E4A6E"/>
                </a:solidFill>
              </a:rPr>
              <a:t>$</a:t>
            </a:r>
            <a:endParaRPr lang="en-US" sz="14000" dirty="0"/>
          </a:p>
        </p:txBody>
      </p:sp>
      <p:sp>
        <p:nvSpPr>
          <p:cNvPr id="9" name="Text 7"/>
          <p:cNvSpPr/>
          <p:nvPr/>
        </p:nvSpPr>
        <p:spPr>
          <a:xfrm>
            <a:off x="5440680" y="3749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D6E8F7"/>
                </a:solidFill>
              </a:rPr>
              <a:t>DC PUBLIC EMPLOYEE SALARY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| THE DATASET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Did I Use?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" y="1078992"/>
            <a:ext cx="8631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The DC Public Employee Salary dataset from DC Open Data lists every government worker in Washington DC — their name, job, agency, pay grade, salary, and hire date.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" y="182880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828800"/>
            <a:ext cx="2029968" cy="54864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9202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A5C"/>
                </a:solidFill>
              </a:rPr>
              <a:t>40,611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" y="254203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Total employees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in the dataset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82880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1828800"/>
            <a:ext cx="2029968" cy="54864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68880" y="19202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A5C"/>
                </a:solidFill>
              </a:rPr>
              <a:t>35,627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254203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Employees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annual salaries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81728" y="182880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81728" y="1828800"/>
            <a:ext cx="2029968" cy="54864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81728" y="19202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A5C"/>
                </a:solidFill>
              </a:rPr>
              <a:t>30+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81728" y="254203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Different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government agencies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94576" y="182880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94576" y="1828800"/>
            <a:ext cx="2029968" cy="54864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2153412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3A5C"/>
                </a:solidFill>
              </a:rPr>
              <a:t>DC Open Data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94576" y="254203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3337560"/>
            <a:ext cx="863193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3337560"/>
            <a:ext cx="8631936" cy="54864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4381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CBF"/>
                </a:solidFill>
              </a:rPr>
              <a:t>Each record tells us: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7490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</a:rPr>
              <a:t>Name &amp; job title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</a:rPr>
              <a:t>Which agency they work for (e.g. DC Public Schools, Police, Fire)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</a:rPr>
              <a:t>Their pay grade (GS 1–18)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</a:rPr>
              <a:t>Their annual salary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</a:rPr>
              <a:t>The date they were hired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3A5C"/>
                </a:solidFill>
              </a:rPr>
              <a:t>Their type of appointment (permanent, temporary, etc.)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| MY QUESTIONS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 Want to Find Out?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863193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8631936" cy="54864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" y="1170432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CB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122529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What do most DC government employees actually get paid?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5361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 wanted to know if there's a typical salary or if it varies a lot.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929384"/>
            <a:ext cx="863193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1929384"/>
            <a:ext cx="8631936" cy="54864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" y="1929384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CB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" y="1984248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Which agencies pay the most?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229514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 assumed bigger = better pay. Turns out I was wrong.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688336"/>
            <a:ext cx="8631936" cy="54864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0896" y="2688336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CB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" y="274320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Does your pay grade predict your salary?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305409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grade system ranks jobs — I wanted to see if it actually matters.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3447288"/>
            <a:ext cx="863193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447288"/>
            <a:ext cx="8631936" cy="54864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0896" y="3447288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CB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" y="350215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Has DC been hiring more or less people over time?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" y="38130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 looked at hiring from 2000 to 2024 to spot patterns.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4206240"/>
            <a:ext cx="863193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4206240"/>
            <a:ext cx="8631936" cy="54864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10896" y="4206240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CB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" y="4261104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Does working longer mean you earn more?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3232" y="45720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 checked if years of service leads to higher pay.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| CLEANING THE 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I Prepare the Data?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" y="1078992"/>
            <a:ext cx="8631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Before I could analyze anything, I had to clean up the raw data. Here's what I found and fixed: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600200"/>
            <a:ext cx="4224528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56032" y="1600200"/>
            <a:ext cx="457200" cy="1069848"/>
          </a:xfrm>
          <a:prstGeom prst="rect">
            <a:avLst/>
          </a:prstGeom>
          <a:solidFill>
            <a:srgbClr val="D6E8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600200"/>
            <a:ext cx="45720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CB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169164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A3A5C"/>
                </a:solidFill>
              </a:rPr>
              <a:t>Problem: Salaries and hourly rates were mixed together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2075688"/>
            <a:ext cx="36210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64748B"/>
                </a:solidFill>
              </a:rPr>
              <a:t>Fix: I separated them — 4,971 employees had hourly rates, not salaries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224528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457200" cy="1069848"/>
          </a:xfrm>
          <a:prstGeom prst="rect">
            <a:avLst/>
          </a:prstGeom>
          <a:solidFill>
            <a:srgbClr val="D6E8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600200"/>
            <a:ext cx="45720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CB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169164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93792" y="2075688"/>
            <a:ext cx="36210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779776"/>
            <a:ext cx="4224528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56032" y="2761488"/>
            <a:ext cx="457200" cy="1069848"/>
          </a:xfrm>
          <a:prstGeom prst="rect">
            <a:avLst/>
          </a:prstGeom>
          <a:solidFill>
            <a:srgbClr val="D6E8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2761488"/>
            <a:ext cx="45720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CB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66944" y="1700784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Problem: Salary and grade columns were stored as 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66944" y="2080468"/>
            <a:ext cx="36210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Fix: I converted them to numbers so I could do math on them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790998"/>
            <a:ext cx="4224528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2761488"/>
            <a:ext cx="457200" cy="1069848"/>
          </a:xfrm>
          <a:prstGeom prst="rect">
            <a:avLst/>
          </a:prstGeom>
          <a:solidFill>
            <a:srgbClr val="D6E8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761488"/>
            <a:ext cx="457200" cy="106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CB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" y="2889504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Problem: Hire dates were plain text strings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" y="3286021"/>
            <a:ext cx="36210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Fix: I converted them to real dates to calculate years of service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93792" y="288036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Problem: 40 employees had no grade recorded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47241" y="3257342"/>
            <a:ext cx="36210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Fix: Kept them in but excluded from grade-specific charts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| FINDING 1 — SALARY DISTRIBUTION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Most DC Employees Earn?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56032" y="1051560"/>
          <a:ext cx="53949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051560"/>
            <a:ext cx="3081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1051560"/>
            <a:ext cx="3081528" cy="54864"/>
          </a:xfrm>
          <a:prstGeom prst="rect">
            <a:avLst/>
          </a:prstGeom>
          <a:solidFill>
            <a:srgbClr val="E05C2E"/>
          </a:solidFill>
          <a:ln w="12700">
            <a:solidFill>
              <a:srgbClr val="E05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25312" y="11704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</a:rPr>
              <a:t>What This Means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25312" y="1508760"/>
            <a:ext cx="2834640" cy="2907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Most employees earn between $75,000 and $130,000 per year.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The typical (median) salary is $100,313.</a:t>
            </a:r>
          </a:p>
          <a:p>
            <a:pPr marL="0" indent="0">
              <a:buNone/>
            </a:pPr>
            <a:endParaRPr lang="en-US" sz="1250" dirty="0">
              <a:solidFill>
                <a:srgbClr val="1A3A5C"/>
              </a:solidFill>
            </a:endParaRPr>
          </a:p>
          <a:p>
            <a:r>
              <a:rPr lang="en-US" sz="1200" dirty="0"/>
              <a:t>Mean salary: $101,544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A small group of executives earn $200,000 or more — this pulls the average up.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The highest salary in the dataset is $390,232.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| FINDING 2 — AGENCY PAY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Agencies Pay the Most?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56032" y="1024128"/>
          <a:ext cx="53949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024128"/>
            <a:ext cx="308152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1024128"/>
            <a:ext cx="3081528" cy="54864"/>
          </a:xfrm>
          <a:prstGeom prst="rect">
            <a:avLst/>
          </a:prstGeom>
          <a:solidFill>
            <a:srgbClr val="E05C2E"/>
          </a:solidFill>
          <a:ln w="12700">
            <a:solidFill>
              <a:srgbClr val="E05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25312" y="1481328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/>
              <a:t>Larger ≠ Higher Pay</a:t>
            </a:r>
            <a:r>
              <a:rPr lang="en-US" sz="1200" dirty="0">
                <a:solidFill>
                  <a:srgbClr val="1A3A5C"/>
                </a:solidFill>
              </a:rPr>
              <a:t> 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</a:rPr>
              <a:t>DC Public Schools has 10,133 employees — the biggest agency — but it's right in the middle for pay.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</a:rPr>
              <a:t>The Office of the CFO has only 1,386 employees but pays the highest average salary ($122K).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5C"/>
                </a:solidFill>
              </a:rPr>
              <a:t>What you do matters more than how big your agency 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| FINDING 3 — HIRING OVER TIME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DC Been Hiring More or Less?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56032" y="1024128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024128"/>
            <a:ext cx="299008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97880" y="1024128"/>
            <a:ext cx="2990088" cy="54864"/>
          </a:xfrm>
          <a:prstGeom prst="rect">
            <a:avLst/>
          </a:prstGeom>
          <a:solidFill>
            <a:srgbClr val="E05C2E"/>
          </a:solidFill>
          <a:ln w="12700">
            <a:solidFill>
              <a:srgbClr val="E05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16752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</a:rPr>
              <a:t>What Happened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16752" y="1481328"/>
            <a:ext cx="274320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</a:rPr>
              <a:t>2008 Financial Crisis: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Hiring dropped ~40% by 2012. The government had to cut back.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</a:rPr>
              <a:t>2015–2019: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Steady recovery — hiring picked back up.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</a:rPr>
              <a:t>2020–2021 COVID Surge: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Biggest hiring spike in 20 years. DC had to rapidly expand public health, emergency services, and social support.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Most current DC employees were hired in the last 15 years.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solidFill>
            <a:srgbClr val="E05C2E"/>
          </a:solidFill>
          <a:ln w="12700">
            <a:solidFill>
              <a:srgbClr val="E05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| SURPRISE FINDING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Some Agencies Pay More? </a:t>
            </a:r>
            <a:endParaRPr lang="en-US" sz="2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56032" y="1051560"/>
          <a:ext cx="55778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051560"/>
            <a:ext cx="289864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989320" y="1051560"/>
            <a:ext cx="2898648" cy="54864"/>
          </a:xfrm>
          <a:prstGeom prst="rect">
            <a:avLst/>
          </a:prstGeom>
          <a:solidFill>
            <a:srgbClr val="E05C2E"/>
          </a:solidFill>
          <a:ln w="12700">
            <a:solidFill>
              <a:srgbClr val="E05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08192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08192" y="1508760"/>
            <a:ext cx="2651760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</a:rPr>
              <a:t>Office of CFO: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32% of staff are executive grade. That's why their average salary is the highest.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</a:rPr>
              <a:t>Corrections: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38% are entry level. That's why their average salary is the lowest.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3A5C"/>
                </a:solidFill>
              </a:rPr>
              <a:t>Salary differences between agencies aren't random — they reflect the types of jobs each agency is built around.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solidFill>
            <a:srgbClr val="2E7CBF"/>
          </a:solidFill>
          <a:ln w="12700">
            <a:solidFill>
              <a:srgbClr val="2E7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 | FINDING 5 — TENURE VS. PAY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02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Working Longer Mean You Earn More?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56032" y="1024128"/>
          <a:ext cx="5669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024128"/>
            <a:ext cx="2807208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080760" y="1024128"/>
            <a:ext cx="2807208" cy="54864"/>
          </a:xfrm>
          <a:prstGeom prst="rect">
            <a:avLst/>
          </a:prstGeom>
          <a:solidFill>
            <a:srgbClr val="E05C2E"/>
          </a:solidFill>
          <a:ln w="12700">
            <a:solidFill>
              <a:srgbClr val="E05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99632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</a:rPr>
              <a:t>Short Answer: Partially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99632" y="1481328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People hired in the 1980s earn about $24,000 more per year than people hired in the 2020s.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 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If you're hired at a high grade level in 2024, you can immediately out-earn someone hired in 1995 at a low grade level.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3A5C"/>
                </a:solidFill>
              </a:rPr>
              <a:t>Correlation is weak. Tenure helps a little. Your grade and agency matter a lot more.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F4A"/>
          </a:solidFill>
          <a:ln w="12700">
            <a:solidFill>
              <a:srgbClr val="16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solidFill>
            <a:srgbClr val="E05C2E"/>
          </a:solidFill>
          <a:ln w="12700">
            <a:solidFill>
              <a:srgbClr val="E05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 | WHAT I FOUND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029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Things the Data Taught Me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798064" cy="1737360"/>
          </a:xfrm>
          <a:prstGeom prst="rect">
            <a:avLst/>
          </a:prstGeom>
          <a:solidFill>
            <a:srgbClr val="1E3F5A"/>
          </a:solidFill>
          <a:ln w="9525">
            <a:solidFill>
              <a:srgbClr val="2E7CB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C2E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Most employees earn $75K–$130K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25968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</a:rPr>
              <a:t>The typical salary is $100,313. A small group of executives earn $300K+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18688" y="1115568"/>
            <a:ext cx="2798064" cy="1737360"/>
          </a:xfrm>
          <a:prstGeom prst="rect">
            <a:avLst/>
          </a:prstGeom>
          <a:solidFill>
            <a:srgbClr val="1E3F5A"/>
          </a:solidFill>
          <a:ln w="9525">
            <a:solidFill>
              <a:srgbClr val="2E7CB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28416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C2E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28416" y="157276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Bigger agency ≠ higher pay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28416" y="1938528"/>
            <a:ext cx="25968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</a:rPr>
              <a:t>DC Public Schools is 7× bigger than OCFO but earns $22K less on average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115568"/>
            <a:ext cx="2798064" cy="1737360"/>
          </a:xfrm>
          <a:prstGeom prst="rect">
            <a:avLst/>
          </a:prstGeom>
          <a:solidFill>
            <a:srgbClr val="1E3F5A"/>
          </a:solidFill>
          <a:ln w="9525">
            <a:solidFill>
              <a:srgbClr val="2E7CB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91072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C2E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1072" y="157276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Your grade level is everything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91072" y="1938528"/>
            <a:ext cx="25968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</a:rPr>
              <a:t>Higher GS grade = higher salary — it's the single biggest factor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56032" y="3054096"/>
            <a:ext cx="2798064" cy="1737360"/>
          </a:xfrm>
          <a:prstGeom prst="rect">
            <a:avLst/>
          </a:prstGeom>
          <a:solidFill>
            <a:srgbClr val="1E3F5A"/>
          </a:solidFill>
          <a:ln w="9525">
            <a:solidFill>
              <a:srgbClr val="2E7CB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C2E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" y="351129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COVID caused a huge hiring surge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3877056"/>
            <a:ext cx="25968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</a:rPr>
              <a:t>2020–2021 had the most new hires in 20 years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18688" y="3054096"/>
            <a:ext cx="2798064" cy="1737360"/>
          </a:xfrm>
          <a:prstGeom prst="rect">
            <a:avLst/>
          </a:prstGeom>
          <a:solidFill>
            <a:srgbClr val="1E3F5A"/>
          </a:solidFill>
          <a:ln w="9525">
            <a:solidFill>
              <a:srgbClr val="2E7CB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28416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C2E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28416" y="351129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Tenure helps — but grade matters more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28416" y="3877056"/>
            <a:ext cx="25968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</a:rPr>
              <a:t>Older employees earn more mainly because of their grade, not just their time served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81344" y="3054096"/>
            <a:ext cx="2798064" cy="1737360"/>
          </a:xfrm>
          <a:prstGeom prst="rect">
            <a:avLst/>
          </a:prstGeom>
          <a:solidFill>
            <a:srgbClr val="1E3F5A"/>
          </a:solidFill>
          <a:ln w="9525">
            <a:solidFill>
              <a:srgbClr val="2E7CB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C2E"/>
                </a:solidFill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91072" y="351129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Supervisors earn the most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91072" y="3877056"/>
            <a:ext cx="259689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</a:rPr>
              <a:t>MSS (Management Supervisory) employees have the highest salaries across every agency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285750"/>
            <a:ext cx="9144000" cy="5143500"/>
          </a:xfrm>
          <a:prstGeom prst="rect">
            <a:avLst/>
          </a:prstGeom>
          <a:solidFill>
            <a:srgbClr val="162F4A"/>
          </a:solidFill>
          <a:ln w="12700">
            <a:solidFill>
              <a:srgbClr val="16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C2E"/>
          </a:solidFill>
          <a:ln w="12700">
            <a:solidFill>
              <a:srgbClr val="E05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solidFill>
            <a:srgbClr val="E05C2E"/>
          </a:solidFill>
          <a:ln w="12700">
            <a:solidFill>
              <a:srgbClr val="E05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 | 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Most Important Takeaway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8631936" cy="1463040"/>
          </a:xfrm>
          <a:prstGeom prst="rect">
            <a:avLst/>
          </a:prstGeom>
          <a:solidFill>
            <a:srgbClr val="1E3F5A"/>
          </a:solidFill>
          <a:ln w="19050">
            <a:solidFill>
              <a:srgbClr val="E05C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152144"/>
            <a:ext cx="826617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</a:rPr>
              <a:t>In DC government, your salary depends more on what grade you're hired into and which agency you work for — than on how many years you've been there.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56032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8F7"/>
                </a:solidFill>
              </a:rPr>
              <a:t>What This Data Can't Tell 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" y="3063240"/>
            <a:ext cx="4114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8C8E8"/>
                </a:solidFill>
              </a:rPr>
              <a:t>No info on gender or race — we can't check if pay is fair across groups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8C8E8"/>
                </a:solidFill>
              </a:rPr>
              <a:t>This is a snapshot — it doesn't show how salaries changed over careers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8C8E8"/>
                </a:solidFill>
              </a:rPr>
              <a:t>Hourly workers (4,971 people) weren't included in the main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4270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E8F7"/>
                </a:solidFill>
              </a:rPr>
              <a:t>What Could Be Studied Next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063240"/>
            <a:ext cx="42702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8C8E8"/>
                </a:solidFill>
              </a:rPr>
              <a:t>Add demographic data to check for pay gaps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8C8E8"/>
                </a:solidFill>
              </a:rPr>
              <a:t>Track how individual salaries grow over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8C8E8"/>
                </a:solidFill>
              </a:rPr>
              <a:t>Compare DC government pay to private sector jobs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8C8E8"/>
                </a:solidFill>
              </a:rPr>
              <a:t>Build a model to predict what someone will earn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" y="470916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5C2E"/>
                </a:solidFill>
              </a:rPr>
              <a:t>Thank you — 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1165</Words>
  <Application>Microsoft Macintosh PowerPoint</Application>
  <PresentationFormat>On-screen Show (16:9)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Behind the Paycheck</dc:title>
  <dc:subject>PptxGenJS Presentation</dc:subject>
  <dc:creator>PptxGenJS</dc:creator>
  <cp:lastModifiedBy>Williams, John</cp:lastModifiedBy>
  <cp:revision>3</cp:revision>
  <dcterms:created xsi:type="dcterms:W3CDTF">2026-04-27T07:14:54Z</dcterms:created>
  <dcterms:modified xsi:type="dcterms:W3CDTF">2026-04-27T20:38:43Z</dcterms:modified>
</cp:coreProperties>
</file>